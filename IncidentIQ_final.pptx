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Reminder from the original deck: demo evidence and final A/B/C test outcomes must be verified before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TEAM QUANTIVEX   ·   OPERATIONAL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0" b="1" i="0">
                <a:solidFill>
                  <a:srgbClr val="1C2B45"/>
                </a:solidFill>
                <a:latin typeface="Cambria"/>
              </a:rPr>
              <a:t>Incident</a:t>
            </a:r>
            <a:r>
              <a:rPr sz="8800" b="1" i="0">
                <a:solidFill>
                  <a:srgbClr val="E8622C"/>
                </a:solidFill>
                <a:latin typeface="Cambria"/>
              </a:rPr>
              <a:t>IQ</a:t>
            </a:r>
          </a:p>
        </p:txBody>
      </p:sp>
      <p:sp>
        <p:nvSpPr>
          <p:cNvPr id="4" name="Rectangle 3"/>
          <p:cNvSpPr/>
          <p:nvPr/>
        </p:nvSpPr>
        <p:spPr>
          <a:xfrm rot="21576000">
            <a:off x="658368" y="3017520"/>
            <a:ext cx="5232006" cy="128016"/>
          </a:xfrm>
          <a:prstGeom prst="rect">
            <a:avLst/>
          </a:prstGeom>
          <a:solidFill>
            <a:srgbClr val="FFD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C2B45"/>
                </a:solidFill>
                <a:latin typeface="Cambria"/>
              </a:rPr>
              <a:t>Evidence-aware incident investigation for explainable operational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834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86478"/>
                </a:solidFill>
                <a:latin typeface="Calibri"/>
              </a:rPr>
              <a:t>Turn scattered operational evidence into a verifiable investigation.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594360"/>
            <a:ext cx="4480560" cy="4480560"/>
          </a:xfrm>
          <a:prstGeom prst="ellipse">
            <a:avLst/>
          </a:prstGeom>
          <a:solidFill>
            <a:srgbClr val="F8D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548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C2B45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 rot="21360000">
            <a:off x="7315200" y="1097280"/>
            <a:ext cx="3017520" cy="1325880"/>
          </a:xfrm>
          <a:prstGeom prst="rect">
            <a:avLst/>
          </a:prstGeom>
          <a:solidFill>
            <a:srgbClr val="FFD45E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2B45"/>
                </a:solidFill>
                <a:latin typeface="Cambria"/>
              </a:rPr>
              <a:t>INC-1042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B45"/>
                </a:solidFill>
                <a:latin typeface="Calibri"/>
              </a:rPr>
              <a:t>orders-api · v2.8.1</a:t>
            </a:r>
          </a:p>
        </p:txBody>
      </p:sp>
      <p:sp>
        <p:nvSpPr>
          <p:cNvPr id="10" name="Rectangle 9"/>
          <p:cNvSpPr/>
          <p:nvPr/>
        </p:nvSpPr>
        <p:spPr>
          <a:xfrm rot="180000">
            <a:off x="8686800" y="2743200"/>
            <a:ext cx="3017520" cy="1325880"/>
          </a:xfrm>
          <a:prstGeom prst="rect">
            <a:avLst/>
          </a:prstGeom>
          <a:solidFill>
            <a:srgbClr val="CFE1F4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2B45"/>
                </a:solidFill>
                <a:latin typeface="Cambria"/>
              </a:rPr>
              <a:t>DEP-882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B45"/>
                </a:solidFill>
                <a:latin typeface="Calibri"/>
              </a:rPr>
              <a:t>linked via the version number</a:t>
            </a:r>
          </a:p>
        </p:txBody>
      </p:sp>
      <p:sp>
        <p:nvSpPr>
          <p:cNvPr id="11" name="Rectangle 10"/>
          <p:cNvSpPr/>
          <p:nvPr/>
        </p:nvSpPr>
        <p:spPr>
          <a:xfrm rot="21480000">
            <a:off x="7178040" y="4297680"/>
            <a:ext cx="3017520" cy="1325880"/>
          </a:xfrm>
          <a:prstGeom prst="rect">
            <a:avLst/>
          </a:prstGeom>
          <a:solidFill>
            <a:srgbClr val="CDE8D3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2B45"/>
                </a:solidFill>
                <a:latin typeface="Cambria"/>
              </a:rPr>
              <a:t>PM-211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B45"/>
                </a:solidFill>
                <a:latin typeface="Calibri"/>
              </a:rPr>
              <a:t>an earlier, similar incident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2514600"/>
            <a:ext cx="502920" cy="182880"/>
          </a:xfrm>
          <a:prstGeom prst="line">
            <a:avLst/>
          </a:prstGeom>
          <a:ln w="28575">
            <a:solidFill>
              <a:srgbClr val="E862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778240" y="4114800"/>
            <a:ext cx="1554480" cy="164592"/>
          </a:xfrm>
          <a:prstGeom prst="line">
            <a:avLst/>
          </a:prstGeom>
          <a:ln w="28575">
            <a:solidFill>
              <a:srgbClr val="E862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78040" y="5943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586478"/>
                </a:solidFill>
                <a:latin typeface="Cambria"/>
              </a:rPr>
              <a:t>“Why did the Order API become slow on September 16?”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5669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200" b="1" i="0">
                <a:solidFill>
                  <a:srgbClr val="1C2B45"/>
                </a:solidFill>
                <a:latin typeface="Cambria"/>
              </a:rPr>
              <a:t>The answer is rarely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200" b="1" i="0">
                <a:solidFill>
                  <a:srgbClr val="1C2B45"/>
                </a:solidFill>
                <a:latin typeface="Cambria"/>
              </a:rPr>
              <a:t>in </a:t>
            </a:r>
            <a:r>
              <a:rPr sz="4200" b="1" i="0">
                <a:solidFill>
                  <a:srgbClr val="1C2B45"/>
                </a:solidFill>
                <a:latin typeface="Cambria"/>
              </a:rPr>
              <a:t>one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86478"/>
                </a:solidFill>
                <a:latin typeface="Calibri"/>
              </a:rPr>
              <a:t>Incident reports, deployment notes, troubleshooting guides, architecture docs, and postmortems live in different places.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86478"/>
                </a:solidFill>
                <a:latin typeface="Calibri"/>
              </a:rPr>
              <a:t>Engineers must connect services, versions, dates, history, and conflicting guidance under pressure.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51960"/>
            <a:ext cx="5212080" cy="1737360"/>
          </a:xfrm>
          <a:prstGeom prst="roundRect">
            <a:avLst>
              <a:gd name="adj" fmla="val 6315"/>
            </a:avLst>
          </a:prstGeom>
          <a:solidFill>
            <a:srgbClr val="1C2B45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D45E"/>
                </a:solidFill>
                <a:latin typeface="Calibri"/>
              </a:rPr>
              <a:t>CORE 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1">
                <a:solidFill>
                  <a:srgbClr val="F5EFE3"/>
                </a:solidFill>
                <a:latin typeface="Cambria"/>
              </a:rPr>
              <a:t>Information exists, but relationships between evidence are hard to see.</a:t>
            </a:r>
          </a:p>
        </p:txBody>
      </p:sp>
      <p:sp>
        <p:nvSpPr>
          <p:cNvPr id="8" name="Rectangle 7"/>
          <p:cNvSpPr/>
          <p:nvPr/>
        </p:nvSpPr>
        <p:spPr>
          <a:xfrm rot="21300000">
            <a:off x="6675120" y="685800"/>
            <a:ext cx="1828800" cy="566928"/>
          </a:xfrm>
          <a:prstGeom prst="rect">
            <a:avLst/>
          </a:prstGeom>
          <a:solidFill>
            <a:srgbClr val="FFD45E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2B45"/>
                </a:solidFill>
                <a:latin typeface="Calibri"/>
              </a:rPr>
              <a:t>Incident reports</a:t>
            </a:r>
          </a:p>
        </p:txBody>
      </p:sp>
      <p:sp>
        <p:nvSpPr>
          <p:cNvPr id="9" name="Rectangle 8"/>
          <p:cNvSpPr/>
          <p:nvPr/>
        </p:nvSpPr>
        <p:spPr>
          <a:xfrm rot="180000">
            <a:off x="8732520" y="548640"/>
            <a:ext cx="1828800" cy="566928"/>
          </a:xfrm>
          <a:prstGeom prst="rect">
            <a:avLst/>
          </a:prstGeom>
          <a:solidFill>
            <a:srgbClr val="CFE1F4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2B45"/>
                </a:solidFill>
                <a:latin typeface="Calibri"/>
              </a:rPr>
              <a:t>Deployment notes</a:t>
            </a:r>
          </a:p>
        </p:txBody>
      </p:sp>
      <p:sp>
        <p:nvSpPr>
          <p:cNvPr id="10" name="Rectangle 9"/>
          <p:cNvSpPr/>
          <p:nvPr/>
        </p:nvSpPr>
        <p:spPr>
          <a:xfrm rot="21420000">
            <a:off x="10058400" y="1097280"/>
            <a:ext cx="2103120" cy="566928"/>
          </a:xfrm>
          <a:prstGeom prst="rect">
            <a:avLst/>
          </a:prstGeom>
          <a:solidFill>
            <a:srgbClr val="CDE8D3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2B45"/>
                </a:solidFill>
                <a:latin typeface="Calibri"/>
              </a:rPr>
              <a:t>Troubleshooting guides</a:t>
            </a:r>
          </a:p>
        </p:txBody>
      </p:sp>
      <p:sp>
        <p:nvSpPr>
          <p:cNvPr id="11" name="Rectangle 10"/>
          <p:cNvSpPr/>
          <p:nvPr/>
        </p:nvSpPr>
        <p:spPr>
          <a:xfrm rot="240000">
            <a:off x="7040880" y="1691640"/>
            <a:ext cx="1828800" cy="566928"/>
          </a:xfrm>
          <a:prstGeom prst="rect">
            <a:avLst/>
          </a:prstGeom>
          <a:solidFill>
            <a:srgbClr val="F8D3C2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2B45"/>
                </a:solidFill>
                <a:latin typeface="Calibri"/>
              </a:rPr>
              <a:t>Architecture docs</a:t>
            </a:r>
          </a:p>
        </p:txBody>
      </p:sp>
      <p:sp>
        <p:nvSpPr>
          <p:cNvPr id="12" name="Rectangle 11"/>
          <p:cNvSpPr/>
          <p:nvPr/>
        </p:nvSpPr>
        <p:spPr>
          <a:xfrm rot="21480000">
            <a:off x="9326880" y="1874519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2B45"/>
                </a:solidFill>
                <a:latin typeface="Calibri"/>
              </a:rPr>
              <a:t>Postmortems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WHAT WE ARE SOLVING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3337560"/>
            <a:ext cx="4965192" cy="0"/>
          </a:xfrm>
          <a:prstGeom prst="line">
            <a:avLst/>
          </a:prstGeom>
          <a:ln w="12700">
            <a:solidFill>
              <a:srgbClr val="CFC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0" y="34472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46557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B45"/>
                </a:solidFill>
                <a:latin typeface="Calibri"/>
              </a:rPr>
              <a:t>Retrieval finds documents, but does not by itself investigate.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4069080"/>
            <a:ext cx="4965192" cy="0"/>
          </a:xfrm>
          <a:prstGeom prst="line">
            <a:avLst/>
          </a:prstGeom>
          <a:ln w="12700">
            <a:solidFill>
              <a:srgbClr val="CFC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0" y="4178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19709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B45"/>
                </a:solidFill>
                <a:latin typeface="Calibri"/>
              </a:rPr>
              <a:t>Similar incidents can inform a search without being exact matches.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0" y="4800600"/>
            <a:ext cx="4965192" cy="0"/>
          </a:xfrm>
          <a:prstGeom prst="line">
            <a:avLst/>
          </a:prstGeom>
          <a:ln w="12700">
            <a:solidFill>
              <a:srgbClr val="CFC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0" y="4910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92861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B45"/>
                </a:solidFill>
                <a:latin typeface="Calibri"/>
              </a:rPr>
              <a:t>Temporal relationship is not proof of causation.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5532120"/>
            <a:ext cx="4965192" cy="0"/>
          </a:xfrm>
          <a:prstGeom prst="line">
            <a:avLst/>
          </a:prstGeom>
          <a:ln w="12700">
            <a:solidFill>
              <a:srgbClr val="CFC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0" y="56418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66013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B45"/>
                </a:solidFill>
                <a:latin typeface="Calibri"/>
              </a:rPr>
              <a:t>Insufficient evidence must remain a valid outcome.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IncidentIQ  ·  Team Quantivex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C2B45"/>
                </a:solidFill>
                <a:latin typeface="Cambria"/>
              </a:rPr>
              <a:t>IncidentIQ turns retrieval into </a:t>
            </a:r>
            <a:r>
              <a:rPr sz="3600" b="1" i="0">
                <a:solidFill>
                  <a:srgbClr val="1C2B45"/>
                </a:solidFill>
                <a:latin typeface="Cambria"/>
              </a:rPr>
              <a:t>investigation</a:t>
            </a:r>
          </a:p>
        </p:txBody>
      </p:sp>
      <p:sp>
        <p:nvSpPr>
          <p:cNvPr id="4" name="Rectangle 3"/>
          <p:cNvSpPr/>
          <p:nvPr/>
        </p:nvSpPr>
        <p:spPr>
          <a:xfrm rot="21576000">
            <a:off x="6983722" y="1389888"/>
            <a:ext cx="2666861" cy="182880"/>
          </a:xfrm>
          <a:prstGeom prst="rect">
            <a:avLst/>
          </a:prstGeom>
          <a:solidFill>
            <a:srgbClr val="FFD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2103120" cy="2606040"/>
          </a:xfrm>
          <a:prstGeom prst="rect">
            <a:avLst/>
          </a:prstGeom>
          <a:solidFill>
            <a:srgbClr val="CFE1F4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301752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E8622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840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B45"/>
                </a:solidFill>
                <a:latin typeface="Cambria"/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251960"/>
            <a:ext cx="17190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Ask a natural-language operational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7218" y="2670048"/>
            <a:ext cx="210312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8386" y="2761488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E8622C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8386" y="3584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B45"/>
                </a:solidFill>
                <a:latin typeface="Cambria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8386" y="3995928"/>
            <a:ext cx="17190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Find evidence across incidents, deployments, guides, and postmortems.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4356" y="2414016"/>
            <a:ext cx="2103120" cy="2606040"/>
          </a:xfrm>
          <a:prstGeom prst="rect">
            <a:avLst/>
          </a:prstGeom>
          <a:solidFill>
            <a:srgbClr val="CDE8D3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5524" y="2505456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E8622C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5524" y="33284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B45"/>
                </a:solidFill>
                <a:latin typeface="Cambria"/>
              </a:rPr>
              <a:t>Follow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5524" y="3739896"/>
            <a:ext cx="17190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Newly discovered clues trigger bounded follow-up searches.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1494" y="2157984"/>
            <a:ext cx="2103120" cy="2606040"/>
          </a:xfrm>
          <a:prstGeom prst="rect">
            <a:avLst/>
          </a:prstGeom>
          <a:solidFill>
            <a:srgbClr val="F8D3C2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2662" y="2249424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E8622C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2662" y="30723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B45"/>
                </a:solidFill>
                <a:latin typeface="Cambria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2662" y="3483864"/>
            <a:ext cx="17190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Compare dates, versions, contradictions, and historical similarity before concluding.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28632" y="1901952"/>
            <a:ext cx="2103120" cy="2606040"/>
          </a:xfrm>
          <a:prstGeom prst="rect">
            <a:avLst/>
          </a:prstGeom>
          <a:solidFill>
            <a:srgbClr val="FFD45E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993392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E8622C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816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B45"/>
                </a:solidFill>
                <a:latin typeface="Cambria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227832"/>
            <a:ext cx="17190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Show source IDs, investigation trace, and uncertainty—not unsupported certainty.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1C2B45"/>
                </a:solidFill>
                <a:latin typeface="Cambria"/>
              </a:rPr>
              <a:t>Question</a:t>
            </a:r>
            <a:r>
              <a:rPr sz="1700" b="1" i="1">
                <a:solidFill>
                  <a:srgbClr val="E8622C"/>
                </a:solidFill>
                <a:latin typeface="Cambria"/>
              </a:rPr>
              <a:t>  →  </a:t>
            </a:r>
            <a:r>
              <a:rPr sz="1700" b="0" i="1">
                <a:solidFill>
                  <a:srgbClr val="1C2B45"/>
                </a:solidFill>
                <a:latin typeface="Cambria"/>
              </a:rPr>
              <a:t>Evidence</a:t>
            </a:r>
            <a:r>
              <a:rPr sz="1700" b="1" i="1">
                <a:solidFill>
                  <a:srgbClr val="E8622C"/>
                </a:solidFill>
                <a:latin typeface="Cambria"/>
              </a:rPr>
              <a:t>  →  </a:t>
            </a:r>
            <a:r>
              <a:rPr sz="1700" b="0" i="1">
                <a:solidFill>
                  <a:srgbClr val="1C2B45"/>
                </a:solidFill>
                <a:latin typeface="Cambria"/>
              </a:rPr>
              <a:t>Investigation</a:t>
            </a:r>
            <a:r>
              <a:rPr sz="1700" b="1" i="1">
                <a:solidFill>
                  <a:srgbClr val="E8622C"/>
                </a:solidFill>
                <a:latin typeface="Cambria"/>
              </a:rPr>
              <a:t>  →  </a:t>
            </a:r>
            <a:r>
              <a:rPr sz="1700" b="0" i="1">
                <a:solidFill>
                  <a:srgbClr val="1C2B45"/>
                </a:solidFill>
                <a:latin typeface="Cambria"/>
              </a:rPr>
              <a:t>Reasoning</a:t>
            </a:r>
            <a:r>
              <a:rPr sz="1700" b="1" i="1">
                <a:solidFill>
                  <a:srgbClr val="E8622C"/>
                </a:solidFill>
                <a:latin typeface="Cambria"/>
              </a:rPr>
              <a:t>  →  </a:t>
            </a:r>
            <a:r>
              <a:rPr sz="1700" b="1" i="1">
                <a:solidFill>
                  <a:srgbClr val="E8622C"/>
                </a:solidFill>
                <a:latin typeface="Cambria"/>
              </a:rPr>
              <a:t>Explainable 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IncidentIQ  ·  Team Quantivex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WHAT MAKES INCIDENTIQ UNIQUE</a:t>
            </a:r>
          </a:p>
        </p:txBody>
      </p:sp>
      <p:sp>
        <p:nvSpPr>
          <p:cNvPr id="3" name="Rectangle 2"/>
          <p:cNvSpPr/>
          <p:nvPr/>
        </p:nvSpPr>
        <p:spPr>
          <a:xfrm rot="21576000">
            <a:off x="658368" y="2176272"/>
            <a:ext cx="2923312" cy="237744"/>
          </a:xfrm>
          <a:prstGeom prst="rect">
            <a:avLst/>
          </a:prstGeom>
          <a:solidFill>
            <a:srgbClr val="FFD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C2B45"/>
                </a:solidFill>
                <a:latin typeface="Cambria"/>
              </a:rPr>
              <a:t>Investigation is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C2B45"/>
                </a:solidFill>
                <a:latin typeface="Cambria"/>
              </a:rPr>
              <a:t>a loop, not a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1C2B45"/>
                </a:solidFill>
                <a:latin typeface="Cambria"/>
              </a:rPr>
              <a:t>single search</a:t>
            </a:r>
          </a:p>
        </p:txBody>
      </p:sp>
      <p:sp>
        <p:nvSpPr>
          <p:cNvPr id="5" name="Circular Arrow 4"/>
          <p:cNvSpPr/>
          <p:nvPr/>
        </p:nvSpPr>
        <p:spPr>
          <a:xfrm>
            <a:off x="731520" y="3520440"/>
            <a:ext cx="1188720" cy="1188720"/>
          </a:xfrm>
          <a:prstGeom prst="circularArrow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6118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1C2B45"/>
                </a:solidFill>
                <a:latin typeface="Cambria"/>
              </a:rPr>
              <a:t>The first result informs the next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868680"/>
            <a:ext cx="3017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57800" y="868680"/>
            <a:ext cx="3017520" cy="82296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06984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B45"/>
                </a:solidFill>
                <a:latin typeface="Cambria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645919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86478"/>
                </a:solidFill>
                <a:latin typeface="Calibri"/>
              </a:rPr>
              <a:t>Service, symptom, date, version, and subquestions.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868680"/>
            <a:ext cx="3017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868680"/>
            <a:ext cx="3017520" cy="82296"/>
          </a:xfrm>
          <a:prstGeom prst="rect">
            <a:avLst/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6984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143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B45"/>
                </a:solidFill>
                <a:latin typeface="Cambria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45919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86478"/>
                </a:solidFill>
                <a:latin typeface="Calibri"/>
              </a:rPr>
              <a:t>Semantic search plus metadata filters and lexical fallback.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2651760"/>
            <a:ext cx="3017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2651760"/>
            <a:ext cx="3017520" cy="82296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92607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B45"/>
                </a:solidFill>
                <a:latin typeface="Cambria"/>
              </a:rP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42900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86478"/>
                </a:solidFill>
                <a:latin typeface="Calibri"/>
              </a:rPr>
              <a:t>Facts, claims, relationships, contradictions, and open questions.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2651760"/>
            <a:ext cx="3017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2651760"/>
            <a:ext cx="3017520" cy="82296"/>
          </a:xfrm>
          <a:prstGeom prst="rect">
            <a:avLst/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7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B45"/>
                </a:solidFill>
                <a:latin typeface="Cambria"/>
              </a:rPr>
              <a:t>Update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42900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86478"/>
                </a:solidFill>
                <a:latin typeface="Calibri"/>
              </a:rPr>
              <a:t>What was learned and what remains unknown.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4434840"/>
            <a:ext cx="3017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4434840"/>
            <a:ext cx="3017520" cy="82296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4636007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7091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B45"/>
                </a:solidFill>
                <a:latin typeface="Cambria"/>
              </a:rPr>
              <a:t>Follow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212079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86478"/>
                </a:solidFill>
                <a:latin typeface="Calibri"/>
              </a:rPr>
              <a:t>A discovered version or deployment ID becomes the next search clue.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4434840"/>
            <a:ext cx="3017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4434840"/>
            <a:ext cx="3017520" cy="82296"/>
          </a:xfrm>
          <a:prstGeom prst="rect">
            <a:avLst/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4636007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622C"/>
                </a:solidFill>
                <a:latin typeface="Cambria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7091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B45"/>
                </a:solidFill>
                <a:latin typeface="Cambria"/>
              </a:rPr>
              <a:t>Reason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212079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86478"/>
                </a:solidFill>
                <a:latin typeface="Calibri"/>
              </a:rPr>
              <a:t>Temporal context, applicability, historical similarity, and evidence sufficiency.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IncidentIQ  ·  Team Quantivex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D45E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3400" b="1" i="0">
                <a:solidFill>
                  <a:srgbClr val="F5EFE3"/>
                </a:solidFill>
                <a:latin typeface="Cambria"/>
              </a:rPr>
              <a:t>From question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3400" b="1" i="0">
                <a:solidFill>
                  <a:srgbClr val="F5EFE3"/>
                </a:solidFill>
                <a:latin typeface="Cambria"/>
              </a:rPr>
              <a:t>to explainable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3400" b="1" i="0">
                <a:solidFill>
                  <a:srgbClr val="F5EFE3"/>
                </a:solidFill>
                <a:latin typeface="Cambria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FD45E"/>
                </a:solidFill>
                <a:latin typeface="Cambria"/>
              </a:rPr>
              <a:t>Evidence-aware engineering by design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3584448"/>
            <a:ext cx="109728" cy="109728"/>
          </a:xfrm>
          <a:prstGeom prst="ellipse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5EFE3"/>
                </a:solidFill>
                <a:latin typeface="Calibri"/>
              </a:rPr>
              <a:t>React receives the user question.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968496"/>
            <a:ext cx="109728" cy="109728"/>
          </a:xfrm>
          <a:prstGeom prst="ellipse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0448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5EFE3"/>
                </a:solidFill>
                <a:latin typeface="Calibri"/>
              </a:rPr>
              <a:t>FastAPI routes the request to the investigation orchestrator.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590288"/>
            <a:ext cx="109728" cy="109728"/>
          </a:xfrm>
          <a:prstGeom prst="ellipse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5EFE3"/>
                </a:solidFill>
                <a:latin typeface="Calibri"/>
              </a:rPr>
              <a:t>Hybrid retrieval combines semantic search, metadata filters, and lexical fallback.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321808"/>
            <a:ext cx="109728" cy="109728"/>
          </a:xfrm>
          <a:prstGeom prst="ellipse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578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5EFE3"/>
                </a:solidFill>
                <a:latin typeface="Calibri"/>
              </a:rPr>
              <a:t>The evidence and reasoning layer keeps sources, relationships, contradictions, and uncertainty 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731520"/>
            <a:ext cx="2057400" cy="2834640"/>
          </a:xfrm>
          <a:prstGeom prst="rect">
            <a:avLst/>
          </a:prstGeom>
          <a:solidFill>
            <a:srgbClr val="CFE1F4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9144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B45"/>
                </a:solidFill>
                <a:latin typeface="Cambria"/>
              </a:rPr>
              <a:t>Hybrid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691640"/>
            <a:ext cx="1737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C2B45"/>
                </a:solidFill>
                <a:latin typeface="Calibri"/>
              </a:rPr>
              <a:t>Semantic search plus service, date, version, and type filters.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051560"/>
            <a:ext cx="205740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234439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B45"/>
                </a:solidFill>
                <a:latin typeface="Cambria"/>
              </a:rPr>
              <a:t>Investigation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011680"/>
            <a:ext cx="1737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C2B45"/>
                </a:solidFill>
                <a:latin typeface="Calibri"/>
              </a:rPr>
              <a:t>Tracks facts, sources, relationships, contradictions, and open questions.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640080"/>
            <a:ext cx="2057400" cy="3200400"/>
          </a:xfrm>
          <a:prstGeom prst="rect">
            <a:avLst/>
          </a:prstGeom>
          <a:solidFill>
            <a:srgbClr val="E8622C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822959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Evidence-aware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600200"/>
            <a:ext cx="1737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Distinguishes temporal from causal, similar from exact, and supports insufficient-evidence outcomes.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51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THE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53712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C2B45"/>
                </a:solidFill>
                <a:latin typeface="Calibri"/>
              </a:rPr>
              <a:t>User question</a:t>
            </a:r>
            <a:r>
              <a:rPr sz="1450" b="1" i="0">
                <a:solidFill>
                  <a:srgbClr val="E8622C"/>
                </a:solidFill>
                <a:latin typeface="Calibri"/>
              </a:rPr>
              <a:t>  →  </a:t>
            </a:r>
            <a:r>
              <a:rPr sz="1450" b="0" i="0">
                <a:solidFill>
                  <a:srgbClr val="1C2B45"/>
                </a:solidFill>
                <a:latin typeface="Calibri"/>
              </a:rPr>
              <a:t>React</a:t>
            </a:r>
            <a:r>
              <a:rPr sz="1450" b="1" i="0">
                <a:solidFill>
                  <a:srgbClr val="E8622C"/>
                </a:solidFill>
                <a:latin typeface="Calibri"/>
              </a:rPr>
              <a:t>  →  </a:t>
            </a:r>
            <a:r>
              <a:rPr sz="1450" b="0" i="0">
                <a:solidFill>
                  <a:srgbClr val="1C2B45"/>
                </a:solidFill>
                <a:latin typeface="Calibri"/>
              </a:rPr>
              <a:t>FastAPI</a:t>
            </a:r>
            <a:r>
              <a:rPr sz="1450" b="1" i="0">
                <a:solidFill>
                  <a:srgbClr val="E8622C"/>
                </a:solidFill>
                <a:latin typeface="Calibri"/>
              </a:rPr>
              <a:t>  →  </a:t>
            </a:r>
            <a:r>
              <a:rPr sz="1450" b="1" i="0">
                <a:solidFill>
                  <a:srgbClr val="1C2B45"/>
                </a:solidFill>
                <a:latin typeface="Calibri"/>
              </a:rPr>
              <a:t>Investigation Orchestrator</a:t>
            </a:r>
            <a:r>
              <a:rPr sz="1450" b="1" i="0">
                <a:solidFill>
                  <a:srgbClr val="E8622C"/>
                </a:solidFill>
                <a:latin typeface="Calibri"/>
              </a:rPr>
              <a:t>  →  </a:t>
            </a:r>
            <a:r>
              <a:rPr sz="1450" b="0" i="0">
                <a:solidFill>
                  <a:srgbClr val="1C2B45"/>
                </a:solidFill>
                <a:latin typeface="Calibri"/>
              </a:rPr>
              <a:t>Hybrid Retrieval</a:t>
            </a:r>
            <a:r>
              <a:rPr sz="1450" b="1" i="0">
                <a:solidFill>
                  <a:srgbClr val="E8622C"/>
                </a:solidFill>
                <a:latin typeface="Calibri"/>
              </a:rPr>
              <a:t>  →  </a:t>
            </a:r>
            <a:r>
              <a:rPr sz="1450" b="0" i="0">
                <a:solidFill>
                  <a:srgbClr val="1C2B45"/>
                </a:solidFill>
                <a:latin typeface="Calibri"/>
              </a:rPr>
              <a:t>Evidence &amp; Reasoning</a:t>
            </a:r>
            <a:r>
              <a:rPr sz="1450" b="1" i="0">
                <a:solidFill>
                  <a:srgbClr val="E8622C"/>
                </a:solidFill>
                <a:latin typeface="Calibri"/>
              </a:rPr>
              <a:t>  →  </a:t>
            </a:r>
            <a:r>
              <a:rPr sz="1450" b="1" i="0">
                <a:solidFill>
                  <a:srgbClr val="1C2B45"/>
                </a:solidFill>
                <a:latin typeface="Calibri"/>
              </a:rPr>
              <a:t>Explainable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5440680"/>
            <a:ext cx="64008" cy="86868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5422392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1">
                <a:solidFill>
                  <a:srgbClr val="1C2B45"/>
                </a:solidFill>
                <a:latin typeface="Cambria"/>
              </a:rPr>
              <a:t>Retrieval supplies evidence; investigation connects and tests it.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586478"/>
                </a:solidFill>
                <a:latin typeface="Calibri"/>
              </a:rPr>
              <a:t>Similar is not exact. Temporal relationship is not causation. Insufficient evidence is a valid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B45"/>
                </a:solidFill>
                <a:latin typeface="Cambria"/>
              </a:rPr>
              <a:t>Evidence-driven architecture,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7985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61568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420000">
            <a:off x="9621520" y="1371600"/>
            <a:ext cx="2018792" cy="1417320"/>
          </a:xfrm>
          <a:prstGeom prst="rect">
            <a:avLst/>
          </a:prstGeom>
          <a:solidFill>
            <a:srgbClr val="FFD45E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1673" bIns="131673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B45"/>
                </a:solidFill>
                <a:latin typeface="Cambria"/>
              </a:rPr>
              <a:t>Not a chatbot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C2B45"/>
                </a:solidFill>
                <a:latin typeface="Calibri"/>
              </a:rPr>
              <a:t>Not a generic chatbot. Not one-shot RAG.</a:t>
            </a:r>
          </a:p>
        </p:txBody>
      </p:sp>
      <p:sp>
        <p:nvSpPr>
          <p:cNvPr id="7" name="Rectangle 6"/>
          <p:cNvSpPr/>
          <p:nvPr/>
        </p:nvSpPr>
        <p:spPr>
          <a:xfrm rot="120000">
            <a:off x="9621520" y="3035808"/>
            <a:ext cx="2018792" cy="1417320"/>
          </a:xfrm>
          <a:prstGeom prst="rect">
            <a:avLst/>
          </a:prstGeom>
          <a:solidFill>
            <a:srgbClr val="CFE1F4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1673" bIns="131673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B45"/>
                </a:solidFill>
                <a:latin typeface="Cambria"/>
              </a:rPr>
              <a:t>Evidence-first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C2B45"/>
                </a:solidFill>
                <a:latin typeface="Calibri"/>
              </a:rPr>
              <a:t>Every important conclusion traces to document IDs.</a:t>
            </a:r>
          </a:p>
        </p:txBody>
      </p:sp>
      <p:sp>
        <p:nvSpPr>
          <p:cNvPr id="8" name="Rectangle 7"/>
          <p:cNvSpPr/>
          <p:nvPr/>
        </p:nvSpPr>
        <p:spPr>
          <a:xfrm rot="21480000">
            <a:off x="9621520" y="4700016"/>
            <a:ext cx="2018792" cy="1417320"/>
          </a:xfrm>
          <a:prstGeom prst="rect">
            <a:avLst/>
          </a:prstGeom>
          <a:solidFill>
            <a:srgbClr val="F8D3C2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1673" bIns="131673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B45"/>
                </a:solidFill>
                <a:latin typeface="Cambria"/>
              </a:rPr>
              <a:t>Honest outcomes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C2B45"/>
                </a:solidFill>
                <a:latin typeface="Calibri"/>
              </a:rPr>
              <a:t>Insufficient evidence is an acceptable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IncidentIQ  ·  Team Quantivex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622C"/>
                </a:solidFill>
                <a:latin typeface="Calibri"/>
              </a:rPr>
              <a:t>FEASIBILITY, VIABILITY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C2B45"/>
                </a:solidFill>
                <a:latin typeface="Cambria"/>
              </a:rPr>
              <a:t>Proof: from incident question to evidence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0908792" cy="960120"/>
          </a:xfrm>
          <a:prstGeom prst="rect">
            <a:avLst/>
          </a:prstGeom>
          <a:solidFill>
            <a:srgbClr val="1C2B45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1" i="0">
                <a:solidFill>
                  <a:srgbClr val="E8622C"/>
                </a:solidFill>
                <a:latin typeface="Cambr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2880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F5EFE3"/>
                </a:solidFill>
                <a:latin typeface="Cambria"/>
              </a:rPr>
              <a:t>Why did the Order API become slow on September 16, was a deployment related, and have we seen this before?</a:t>
            </a:r>
          </a:p>
        </p:txBody>
      </p:sp>
      <p:sp>
        <p:nvSpPr>
          <p:cNvPr id="7" name="Rectangle 6"/>
          <p:cNvSpPr/>
          <p:nvPr/>
        </p:nvSpPr>
        <p:spPr>
          <a:xfrm rot="21510000">
            <a:off x="685800" y="3108960"/>
            <a:ext cx="3154680" cy="1737360"/>
          </a:xfrm>
          <a:prstGeom prst="rect">
            <a:avLst/>
          </a:prstGeom>
          <a:solidFill>
            <a:srgbClr val="FFD45E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622C"/>
                </a:solidFill>
                <a:latin typeface="Calibri"/>
              </a:rPr>
              <a:t>STEP 01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1C2B45"/>
                </a:solidFill>
                <a:latin typeface="Cambria"/>
              </a:rPr>
              <a:t>INC-1042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Incident report reveals orders-api and version v2.8.1.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3977639"/>
            <a:ext cx="457200" cy="45721"/>
          </a:xfrm>
          <a:prstGeom prst="line">
            <a:avLst/>
          </a:prstGeom>
          <a:ln w="28575">
            <a:solidFill>
              <a:srgbClr val="E862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 rot="60000">
            <a:off x="4434840" y="3246120"/>
            <a:ext cx="3154680" cy="1737360"/>
          </a:xfrm>
          <a:prstGeom prst="rect">
            <a:avLst/>
          </a:prstGeom>
          <a:solidFill>
            <a:srgbClr val="CFE1F4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622C"/>
                </a:solidFill>
                <a:latin typeface="Calibri"/>
              </a:rPr>
              <a:t>STEP 02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1C2B45"/>
                </a:solidFill>
                <a:latin typeface="Cambria"/>
              </a:rPr>
              <a:t>DEP-882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Follow-up search connects the discovered version to a deployment record.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59" y="3977639"/>
            <a:ext cx="457200" cy="45721"/>
          </a:xfrm>
          <a:prstGeom prst="line">
            <a:avLst/>
          </a:prstGeom>
          <a:ln w="28575">
            <a:solidFill>
              <a:srgbClr val="E862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21540000">
            <a:off x="8183879" y="3108960"/>
            <a:ext cx="3154680" cy="1737360"/>
          </a:xfrm>
          <a:prstGeom prst="rect">
            <a:avLst/>
          </a:prstGeom>
          <a:solidFill>
            <a:srgbClr val="CDE8D3"/>
          </a:solidFill>
          <a:ln>
            <a:noFill/>
          </a:ln>
          <a:effectLst>
            <a:outerShdw blurRad="1270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622C"/>
                </a:solidFill>
                <a:latin typeface="Calibri"/>
              </a:rPr>
              <a:t>STEP 03</a:t>
            </a:r>
          </a:p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1C2B45"/>
                </a:solidFill>
                <a:latin typeface="Cambria"/>
              </a:rPr>
              <a:t>PM-211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C2B45"/>
                </a:solidFill>
                <a:latin typeface="Calibri"/>
              </a:rPr>
              <a:t>Historical search finds an earlier incident for comparison.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303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B45"/>
                </a:solidFill>
                <a:latin typeface="Cambria"/>
              </a:rPr>
              <a:t>Feasible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614416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586478"/>
                </a:solidFill>
                <a:latin typeface="Calibri"/>
              </a:rPr>
              <a:t>Built from a focused investigation loop over existing operational evidence.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5257800"/>
            <a:ext cx="457200" cy="457200"/>
          </a:xfrm>
          <a:prstGeom prst="ellipse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257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2303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B45"/>
                </a:solidFill>
                <a:latin typeface="Cambria"/>
              </a:rPr>
              <a:t>Viable and beneficial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614416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586478"/>
                </a:solidFill>
                <a:latin typeface="Calibri"/>
              </a:rPr>
              <a:t>Helps teams investigate fragmented knowledge with visible evidence links and uncertainty.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IncidentIQ  ·  Team Quantivex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8647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D45E"/>
                </a:solidFill>
                <a:latin typeface="Calibri"/>
              </a:rPr>
              <a:t>DEMO PATH &amp; CLOSING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591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000" b="1" i="0">
                <a:solidFill>
                  <a:srgbClr val="F5EFE3"/>
                </a:solidFill>
                <a:latin typeface="Cambria"/>
              </a:rPr>
              <a:t>Make the evidence chain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000" b="1" i="0">
                <a:solidFill>
                  <a:srgbClr val="F5EFE3"/>
                </a:solidFill>
                <a:latin typeface="Cambria"/>
              </a:rPr>
              <a:t>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63240"/>
            <a:ext cx="9235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C9D2E3"/>
                </a:solidFill>
                <a:latin typeface="Calibri"/>
              </a:rPr>
              <a:t>IncidentIQ turns scattered operational evidence into a verifiable incident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8622C"/>
                </a:solidFill>
                <a:latin typeface="Cambria"/>
              </a:rPr>
              <a:t>01  </a:t>
            </a:r>
            <a:r>
              <a:rPr sz="2000" b="1" i="0">
                <a:solidFill>
                  <a:srgbClr val="FFD45E"/>
                </a:solidFill>
                <a:latin typeface="Cambria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0" i="0">
                <a:solidFill>
                  <a:srgbClr val="F5EFE3"/>
                </a:solidFill>
                <a:latin typeface="Calibri"/>
              </a:rPr>
              <a:t>Start with a real operational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4069080"/>
            <a:ext cx="13716" cy="1097280"/>
          </a:xfrm>
          <a:prstGeom prst="rect">
            <a:avLst/>
          </a:prstGeom>
          <a:solidFill>
            <a:srgbClr val="4A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4023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8622C"/>
                </a:solidFill>
                <a:latin typeface="Cambria"/>
              </a:rPr>
              <a:t>02  </a:t>
            </a:r>
            <a:r>
              <a:rPr sz="2000" b="1" i="0">
                <a:solidFill>
                  <a:srgbClr val="FFD45E"/>
                </a:solidFill>
                <a:latin typeface="Cambria"/>
              </a:rPr>
              <a:t>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5262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0" i="0">
                <a:solidFill>
                  <a:srgbClr val="F5EFE3"/>
                </a:solidFill>
                <a:latin typeface="Calibri"/>
              </a:rPr>
              <a:t>Follow evidence links across incidents, deployments, and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4069080"/>
            <a:ext cx="13716" cy="1097280"/>
          </a:xfrm>
          <a:prstGeom prst="rect">
            <a:avLst/>
          </a:prstGeom>
          <a:solidFill>
            <a:srgbClr val="4A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023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8622C"/>
                </a:solidFill>
                <a:latin typeface="Cambria"/>
              </a:rPr>
              <a:t>03  </a:t>
            </a:r>
            <a:r>
              <a:rPr sz="2000" b="1" i="0">
                <a:solidFill>
                  <a:srgbClr val="FFD45E"/>
                </a:solidFill>
                <a:latin typeface="Cambria"/>
              </a:rPr>
              <a:t>Decide responsibly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5262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0" i="0">
                <a:solidFill>
                  <a:srgbClr val="F5EFE3"/>
                </a:solidFill>
                <a:latin typeface="Calibri"/>
              </a:rPr>
              <a:t>Temporal ≠ causal. Similar ≠ exact. Missing evidence ≠ guess.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D45E"/>
                </a:solidFill>
                <a:latin typeface="Calibri"/>
              </a:rPr>
              <a:t>Built for  </a:t>
            </a:r>
            <a:r>
              <a:rPr sz="1400" b="0" i="0">
                <a:solidFill>
                  <a:srgbClr val="F5EFE3"/>
                </a:solidFill>
                <a:latin typeface="Calibri"/>
              </a:rPr>
              <a:t>SRE, DevOps, platform engineering, incident response, and support escalation.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8622C"/>
                </a:solidFill>
                <a:latin typeface="Calibri"/>
              </a:rPr>
              <a:t>Next horizon  </a:t>
            </a:r>
            <a:r>
              <a:rPr sz="1400" b="0" i="0">
                <a:solidFill>
                  <a:srgbClr val="F5EFE3"/>
                </a:solidFill>
                <a:latin typeface="Calibri"/>
              </a:rPr>
              <a:t>Enterprise connectors, service/dependency knowledge graphs, and continuous incident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